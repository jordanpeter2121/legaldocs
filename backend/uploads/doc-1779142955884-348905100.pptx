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C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D2308"/>
          </a:solidFill>
          <a:ln w="12700">
            <a:solidFill>
              <a:srgbClr val="4D23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0"/>
            <a:ext cx="155448" cy="514350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KEWIRAUSAHAAN  ·  UPITRA</a:t>
            </a:r>
            <a:endParaRPr lang="en-US" sz="950" dirty="0"/>
          </a:p>
        </p:txBody>
      </p:sp>
      <p:pic>
        <p:nvPicPr>
          <p:cNvPr id="5" name="Image 0" descr="/home/claude/teh_obeng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45720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8368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457200" y="1316736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OBENG</a:t>
            </a:r>
            <a:endParaRPr lang="en-US" sz="50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64008" cy="420624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304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"Lebih Pekat, Lebih Nikmat"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5029200" cy="36576"/>
          </a:xfrm>
          <a:prstGeom prst="rect">
            <a:avLst/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9260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  ·  Sistem Informasi  · 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327355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Bonar P.J. Sihombing  ·  M. Haidar Ali 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Octaviolola Riris  ·  Hendrikus Sakulok  ·  Erica Chelsea 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00D00"/>
          </a:solidFill>
          <a:ln w="12700">
            <a:solidFill>
              <a:srgbClr val="200D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|  Investor Pitch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 &amp;  SOLUSI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3977640" cy="4005072"/>
          </a:xfrm>
          <a:prstGeom prst="rect">
            <a:avLst/>
          </a:prstGeom>
          <a:solidFill>
            <a:srgbClr val="FEF4EC"/>
          </a:solidFill>
          <a:ln w="12700">
            <a:solidFill>
              <a:srgbClr val="A83B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3977640" cy="438912"/>
          </a:xfrm>
          <a:prstGeom prst="rect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76656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216152"/>
            <a:ext cx="402336" cy="402336"/>
          </a:xfrm>
          <a:prstGeom prst="ellipse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" y="1276502"/>
            <a:ext cx="281635" cy="2816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41832" y="1243584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Cuaca Surakarta dominan panas, kebutuhan minuman segar sangat tinggi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1984248"/>
            <a:ext cx="402336" cy="402336"/>
          </a:xfrm>
          <a:prstGeom prst="ellipse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" y="2044598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1832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butuh minuman praktis, cepat saji, dan terjangkau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" y="2752344"/>
            <a:ext cx="402336" cy="402336"/>
          </a:xfrm>
          <a:prstGeom prst="ellipse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" y="2812694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1832" y="2779776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usaha F&amp;B kekinian di Surakarta sangat pesat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11480" y="3520440"/>
            <a:ext cx="402336" cy="402336"/>
          </a:xfrm>
          <a:prstGeom prst="ellipse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" y="3580790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41832" y="354787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menemukan teh racikan dengan rasa khas yang konsisten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0" y="658368"/>
            <a:ext cx="4251960" cy="4005072"/>
          </a:xfrm>
          <a:prstGeom prst="rect">
            <a:avLst/>
          </a:prstGeom>
          <a:solidFill>
            <a:srgbClr val="F5FDF7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72000" y="658368"/>
            <a:ext cx="4251960" cy="43891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663440" y="676656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709160" y="1216152"/>
            <a:ext cx="402336" cy="40233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510" y="1276502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39512" y="124358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pekat segar khas dengan rasa konsisten &amp; bahan alami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09160" y="1984248"/>
            <a:ext cx="402336" cy="40233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9510" y="2044598"/>
            <a:ext cx="281635" cy="28163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239512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mulai Rp3.000 — ramah di kantong mahasiswa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709160" y="2752344"/>
            <a:ext cx="402336" cy="40233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510" y="2812694"/>
            <a:ext cx="281635" cy="28163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39512" y="277977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Pesan via ShopeeFood &amp; GrabFood — tanpa harus ke lokasi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4709160" y="3520440"/>
            <a:ext cx="402336" cy="40233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510" y="3580790"/>
            <a:ext cx="281635" cy="28163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239512" y="354787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strategis dekat kampus UPITRA, Pabelan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PELUANG PASAR  &amp;  KEUNGGULAN KOMPETITIF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640080"/>
            <a:ext cx="2697480" cy="118872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731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Rp3.000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mulai dari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2697480" cy="1188720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3552" y="731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cup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73552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penjualan/hari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640080"/>
            <a:ext cx="2697480" cy="1188720"/>
          </a:xfrm>
          <a:prstGeom prst="rect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99632" y="731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Rp14,25 Jt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199632" y="1298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omset/bulan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193852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Mahasiswa &amp; warga sekitar kampus UPITRA Pabelan, Surakarta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64008" cy="169164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0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KOMPETITIF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61488"/>
            <a:ext cx="2057400" cy="9144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89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Khas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2735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racikan pekat, unik &amp; konsisten, tidak ditemukan di sembarang kedai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68880" y="276148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68880" y="2761488"/>
            <a:ext cx="2057400" cy="91440"/>
          </a:xfrm>
          <a:prstGeom prst="rect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889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Terjangkau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78608" y="32735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Rp3.000/cup, paling kompetitif untuk segmen mahasiswa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76148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61488"/>
            <a:ext cx="2057400" cy="91440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889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First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73168" y="32735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di ShopeeFood, GrabFood &amp; media sosial untuk jangkauan luas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8000" y="2761488"/>
            <a:ext cx="2057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58000" y="2761488"/>
            <a:ext cx="2057400" cy="91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67728" y="28895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Fleksibel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67728" y="327355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Menerima tunai &amp; QRIS, memudahkan semua kalangan konsumen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64008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640080"/>
            <a:ext cx="2834640" cy="402336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67665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109728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UPITRA &amp; kampus sekitar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Warga sekitar Pabelan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 area kampus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274320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2743200"/>
            <a:ext cx="2834640" cy="402336"/>
          </a:xfrm>
          <a:prstGeom prst="rect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277977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" y="320040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 pekat &amp; segar harga hemat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alami berkualitas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&amp; akses digital mudah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91256" y="64008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640080"/>
            <a:ext cx="2834640" cy="402336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67665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09728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ShopeeFood, GrabFood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Stand &amp; banner lokal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(IG, TikTok, WA)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91256" y="274320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91256" y="2743200"/>
            <a:ext cx="2834640" cy="4023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00984" y="277977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320040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Teh Obeng — Rp3.000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Lemon Tea — Rp4.000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Tea Selasih — Rp5.000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Tea — Rp5.000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81344" y="64008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640080"/>
            <a:ext cx="2834640" cy="402336"/>
          </a:xfrm>
          <a:prstGeom prst="rect">
            <a:avLst/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67665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109728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strategis Pabelan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Peralatan produksi minuman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digital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81344" y="2743200"/>
            <a:ext cx="2834640" cy="1920240"/>
          </a:xfrm>
          <a:prstGeom prst="rect">
            <a:avLst/>
          </a:prstGeom>
          <a:solidFill>
            <a:srgbClr val="F0E8DA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2743200"/>
            <a:ext cx="283464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77977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2784" y="3200400"/>
            <a:ext cx="265176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bahan baku teh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GrabFood &amp; ShopeeFood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QRIS payment gateway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PEMASARAN  &amp;  TIM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60350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Pemasaran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023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24128"/>
            <a:ext cx="91440" cy="7589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188720"/>
            <a:ext cx="347472" cy="347472"/>
          </a:xfrm>
          <a:prstGeom prst="ellipse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3" y="1240841"/>
            <a:ext cx="243230" cy="2432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07899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14400" y="138988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TikTok &amp; WhatsApp — konten kreatif foto &amp; reels produk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883664"/>
            <a:ext cx="4023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883664"/>
            <a:ext cx="91440" cy="7589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2048256"/>
            <a:ext cx="347472" cy="347472"/>
          </a:xfrm>
          <a:prstGeom prst="ellipse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3" y="2100377"/>
            <a:ext cx="243230" cy="2432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193852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Pesan Antar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22494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ShopeeFood &amp; GrabFood — jangkauan luas tanpa batas wilayah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2743200"/>
            <a:ext cx="4023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74320" y="2743200"/>
            <a:ext cx="91440" cy="7589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8912" y="2907792"/>
            <a:ext cx="347472" cy="347472"/>
          </a:xfrm>
          <a:prstGeom prst="ellipse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3" y="2959913"/>
            <a:ext cx="243230" cy="24323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27980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Penetrasi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14400" y="31089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Rp3.000, strategi harga rendah untuk memenangkan pasar awal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74320" y="3602736"/>
            <a:ext cx="4023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74320" y="3602736"/>
            <a:ext cx="91440" cy="7589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8912" y="3767328"/>
            <a:ext cx="347472" cy="347472"/>
          </a:xfrm>
          <a:prstGeom prst="ellipse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3" y="3819449"/>
            <a:ext cx="243230" cy="2432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" y="36576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Loyalitas Pelanggan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14400" y="3968496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Pelayanan ramah, konsisten, respon cepat &amp; QRIS untuk kemudahan bayar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480560" y="594360"/>
            <a:ext cx="36576" cy="4160520"/>
          </a:xfrm>
          <a:prstGeom prst="rect">
            <a:avLst/>
          </a:prstGeom>
          <a:solidFill>
            <a:srgbClr val="DDD0BE"/>
          </a:solidFill>
          <a:ln w="12700">
            <a:solidFill>
              <a:srgbClr val="DDD0B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17720" y="603504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Kami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4617720" y="1078992"/>
            <a:ext cx="475488" cy="475488"/>
          </a:xfrm>
          <a:prstGeom prst="ellipse">
            <a:avLst/>
          </a:prstGeom>
          <a:solidFill>
            <a:srgbClr val="C1781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61772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5193792" y="10881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Bonar Petrus J. Sihombing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193792" y="13533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Tim  ·  243026036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4617720" y="1764792"/>
            <a:ext cx="475488" cy="47548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617720" y="1764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193792" y="17739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Haidar Ali Khoirullah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193792" y="20391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Keuangan  ·  243026025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4617720" y="2450592"/>
            <a:ext cx="475488" cy="47548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617720" y="2450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5193792" y="24597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Octaviolola Riris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5193792" y="27249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Pemasaran  ·  243026029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4617720" y="3136392"/>
            <a:ext cx="475488" cy="47548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617720" y="3136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200" dirty="0"/>
          </a:p>
        </p:txBody>
      </p:sp>
      <p:sp>
        <p:nvSpPr>
          <p:cNvPr id="47" name="Text 41"/>
          <p:cNvSpPr/>
          <p:nvPr/>
        </p:nvSpPr>
        <p:spPr>
          <a:xfrm>
            <a:off x="5193792" y="31455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Hendrikus Sakulok</a:t>
            </a:r>
            <a:endParaRPr lang="en-US" sz="1050" dirty="0"/>
          </a:p>
        </p:txBody>
      </p:sp>
      <p:sp>
        <p:nvSpPr>
          <p:cNvPr id="48" name="Text 42"/>
          <p:cNvSpPr/>
          <p:nvPr/>
        </p:nvSpPr>
        <p:spPr>
          <a:xfrm>
            <a:off x="5193792" y="34107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  ·  243026013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4617720" y="3822192"/>
            <a:ext cx="475488" cy="47548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4617720" y="3822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200" dirty="0"/>
          </a:p>
        </p:txBody>
      </p:sp>
      <p:sp>
        <p:nvSpPr>
          <p:cNvPr id="51" name="Text 45"/>
          <p:cNvSpPr/>
          <p:nvPr/>
        </p:nvSpPr>
        <p:spPr>
          <a:xfrm>
            <a:off x="5193792" y="38313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Erica Chelsea Stefani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5193792" y="4096512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  ·  243026014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KEUANGAN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1168" y="640080"/>
            <a:ext cx="2057400" cy="1143000"/>
          </a:xfrm>
          <a:prstGeom prst="rect">
            <a:avLst/>
          </a:prstGeom>
          <a:solidFill>
            <a:srgbClr val="3D1C02"/>
          </a:solidFill>
          <a:ln w="12700">
            <a:solidFill>
              <a:srgbClr val="3D1C0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31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Rp586.000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Investasi Awal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14016" y="640080"/>
            <a:ext cx="2057400" cy="114300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87168" y="731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Rp475.000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87168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 per Hari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640080"/>
            <a:ext cx="2057400" cy="1143000"/>
          </a:xfrm>
          <a:prstGeom prst="rect">
            <a:avLst/>
          </a:prstGeom>
          <a:solidFill>
            <a:srgbClr val="A83B0A"/>
          </a:solidFill>
          <a:ln w="12700">
            <a:solidFill>
              <a:srgbClr val="A83B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731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Rp14,25 Jt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0016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 per Bulan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39712" y="640080"/>
            <a:ext cx="2057400" cy="11430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12864" y="7315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Rp171 Jt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12864" y="12984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Proyeksi per Tahun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1901952"/>
            <a:ext cx="87416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Rincian Proyeksi Pendapatan per Produk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2249424"/>
          <a:ext cx="8741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1371600"/>
                <a:gridCol w="169164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C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C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Target/Hari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C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Omset/Hari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C0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Omset/Bulan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C0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Teh Obeng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150.000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4.500.000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Lemon Tea Selasih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125.000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3.750.000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Milk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 Lemon Tea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0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1C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1C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cup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1C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475.000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D1C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14.250.000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D8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201168" y="4407408"/>
            <a:ext cx="8741664" cy="347472"/>
          </a:xfrm>
          <a:prstGeom prst="rect">
            <a:avLst/>
          </a:prstGeom>
          <a:solidFill>
            <a:srgbClr val="FEF9EC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4531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BEP:  Total investasi Rp586.000 — estimasi kembali modal dalam ±2 hari operasional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1C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0"/>
            <a:ext cx="2606040" cy="5143500"/>
          </a:xfrm>
          <a:prstGeom prst="rect">
            <a:avLst/>
          </a:prstGeom>
          <a:solidFill>
            <a:srgbClr val="4D2308"/>
          </a:solidFill>
          <a:ln w="12700">
            <a:solidFill>
              <a:srgbClr val="4D23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146304" cy="514350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09728"/>
            <a:ext cx="292608" cy="292608"/>
          </a:xfrm>
          <a:prstGeom prst="ellipse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2520" y="109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5852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Membutuhkan: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75488" cy="475488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1225296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586.000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1527048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Awal — Peralatan (kompor, termos, panci, meja) + modal kerja bahan baku pertama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75488" cy="475488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8408" y="2212848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 &amp; Akses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2514600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Distribusi — Dukungan akses ke platform digital dan lokasi strategis di kawasan kampus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475488" cy="475488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1C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8408" y="3200400"/>
            <a:ext cx="5212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" y="3502152"/>
            <a:ext cx="5212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Pendampingan Bisnis — Bimbingan manajemen usaha, branding, dan pengembangan produk ke depan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5852160" cy="36576"/>
          </a:xfrm>
          <a:prstGeom prst="rect">
            <a:avLst/>
          </a:prstGeom>
          <a:solidFill>
            <a:srgbClr val="5A3010"/>
          </a:solidFill>
          <a:ln w="12700">
            <a:solidFill>
              <a:srgbClr val="5A3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70248"/>
            <a:ext cx="5852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"Lebih Pekat, Lebih Nikmat"  —  Kedai Teh Obeng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6858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</a:t>
            </a:r>
            <a:endParaRPr lang="en-US" sz="3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178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6903720" y="2633472"/>
            <a:ext cx="1554480" cy="45720"/>
          </a:xfrm>
          <a:prstGeom prst="rect">
            <a:avLst/>
          </a:prstGeom>
          <a:solidFill>
            <a:srgbClr val="C17817"/>
          </a:solidFill>
          <a:ln w="12700">
            <a:solidFill>
              <a:srgbClr val="C178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74320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UPITRA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00D00"/>
          </a:solidFill>
          <a:ln w="12700">
            <a:solidFill>
              <a:srgbClr val="200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Kedai Teh Obeng  |  Kelompok 3  |  SI UPITRA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- Kedai Teh Obeng</dc:title>
  <dc:subject>PptxGenJS Presentation</dc:subject>
  <dc:creator>PptxGenJS</dc:creator>
  <cp:lastModifiedBy>PptxGenJS</cp:lastModifiedBy>
  <cp:revision>1</cp:revision>
  <dcterms:created xsi:type="dcterms:W3CDTF">2026-05-11T03:29:01Z</dcterms:created>
  <dcterms:modified xsi:type="dcterms:W3CDTF">2026-05-11T03:29:01Z</dcterms:modified>
</cp:coreProperties>
</file>