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68" r:id="rId3"/>
    <p:sldId id="273" r:id="rId4"/>
    <p:sldId id="290" r:id="rId5"/>
    <p:sldId id="291" r:id="rId6"/>
    <p:sldId id="274" r:id="rId7"/>
    <p:sldId id="292" r:id="rId8"/>
    <p:sldId id="275" r:id="rId9"/>
    <p:sldId id="281" r:id="rId10"/>
    <p:sldId id="28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460" autoAdjust="0"/>
    <p:restoredTop sz="78922"/>
  </p:normalViewPr>
  <p:slideViewPr>
    <p:cSldViewPr snapToGrid="0">
      <p:cViewPr varScale="1">
        <p:scale>
          <a:sx n="126" d="100"/>
          <a:sy n="126" d="100"/>
        </p:scale>
        <p:origin x="88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B3DD49-218C-9245-9B75-D1568047177C}" type="datetimeFigureOut">
              <a:rPr lang="en-US" smtClean="0"/>
              <a:t>5/9/25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13EB15-BBE0-7B4D-B849-8A132EAF83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2920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0810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1918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4238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5314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197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33334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10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00834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78658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D13EB15-BBE0-7B4D-B849-8A132EAF83D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65323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57B0495-6358-3136-BF20-B63096B11180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E86E9E-AE7F-754E-A84E-9D344DD1DE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8" y="1181083"/>
            <a:ext cx="12143972" cy="493708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F087CA-97BD-08A4-2E07-1EFD894FCEB7}"/>
              </a:ext>
            </a:extLst>
          </p:cNvPr>
          <p:cNvSpPr/>
          <p:nvPr userDrawn="1"/>
        </p:nvSpPr>
        <p:spPr>
          <a:xfrm>
            <a:off x="1531677" y="-1"/>
            <a:ext cx="2310938" cy="32530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n>
                <a:noFill/>
              </a:ln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466606" y="635897"/>
            <a:ext cx="9144000" cy="1135253"/>
          </a:xfrm>
        </p:spPr>
        <p:txBody>
          <a:bodyPr anchor="b">
            <a:normAutofit/>
          </a:bodyPr>
          <a:lstStyle>
            <a:lvl1pPr algn="r">
              <a:defRPr sz="44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466606" y="1945786"/>
            <a:ext cx="9144000" cy="628768"/>
          </a:xfrm>
        </p:spPr>
        <p:txBody>
          <a:bodyPr/>
          <a:lstStyle>
            <a:lvl1pPr marL="0" indent="0" algn="r">
              <a:buNone/>
              <a:defRPr sz="2400"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9B970D-42B8-DB63-4AD8-B186C028F75A}"/>
              </a:ext>
            </a:extLst>
          </p:cNvPr>
          <p:cNvSpPr/>
          <p:nvPr userDrawn="1"/>
        </p:nvSpPr>
        <p:spPr>
          <a:xfrm>
            <a:off x="1535082" y="2508478"/>
            <a:ext cx="2310937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RESSIVE" panose="02000800000000000000" pitchFamily="2" charset="0"/>
              </a:rPr>
              <a:t>UPITRA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6237205-A507-17D8-59F3-8827548AA4E9}"/>
              </a:ext>
            </a:extLst>
          </p:cNvPr>
          <p:cNvSpPr/>
          <p:nvPr userDrawn="1"/>
        </p:nvSpPr>
        <p:spPr>
          <a:xfrm>
            <a:off x="1532945" y="1864546"/>
            <a:ext cx="2310937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RESSIVE" panose="02000800000000000000" pitchFamily="2" charset="0"/>
              </a:rPr>
              <a:t>Sistem</a:t>
            </a:r>
            <a:r>
              <a:rPr lang="en-US" sz="16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RESSIVE" panose="02000800000000000000" pitchFamily="2" charset="0"/>
              </a:rPr>
              <a:t> </a:t>
            </a:r>
            <a:r>
              <a:rPr lang="en-US" sz="1600" b="1" cap="none" spc="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AGRESSIVE" panose="02000800000000000000" pitchFamily="2" charset="0"/>
              </a:rPr>
              <a:t>informasi</a:t>
            </a:r>
            <a:endParaRPr lang="en-US" sz="16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AGRESSIVE" panose="02000800000000000000" pitchFamily="2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65C0CD8-0BC9-79AF-4803-520EB6BB815B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B0C6C44-2B7B-6B96-07CB-13D44EE5A8D3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10BCB60-5C0F-E634-0F93-66D0142F5B75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6A84B16-70A3-121C-AD6E-470FAA7547C6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FD4974B-9C4F-80D3-3552-324933A914D3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pic>
        <p:nvPicPr>
          <p:cNvPr id="6" name="image1.png">
            <a:extLst>
              <a:ext uri="{FF2B5EF4-FFF2-40B4-BE49-F238E27FC236}">
                <a16:creationId xmlns:a16="http://schemas.microsoft.com/office/drawing/2014/main" id="{2F2A0D13-33E7-3F5A-BDF9-C59A89CE4403}"/>
              </a:ext>
            </a:extLst>
          </p:cNvPr>
          <p:cNvPicPr/>
          <p:nvPr userDrawn="1"/>
        </p:nvPicPr>
        <p:blipFill>
          <a:blip r:embed="rId3"/>
          <a:srcRect/>
          <a:stretch>
            <a:fillRect/>
          </a:stretch>
        </p:blipFill>
        <p:spPr>
          <a:xfrm>
            <a:off x="2116976" y="536225"/>
            <a:ext cx="1141614" cy="11036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236178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91069"/>
            <a:ext cx="10051473" cy="79157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1176532"/>
            <a:ext cx="10515600" cy="5000431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3D9DCEC-FA6A-703B-66F3-C06EB71FAAE5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CC838D4-000D-1644-7B67-0F4F7A18CF9D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19B517B-2F6E-5656-B3AC-2B988E3EC399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34E59C8-C113-C922-ECA1-52DD2DFC4532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1E6046-B84E-B251-DE0E-3E6CABF3DB39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873A143E-44B1-8408-1EC1-7D8B55CE6816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D40CBBF2-2761-9689-19E3-CD5558BD1F6A}"/>
              </a:ext>
            </a:extLst>
          </p:cNvPr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961719" y="186858"/>
            <a:ext cx="1141614" cy="11036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2702208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482134"/>
            <a:ext cx="10515600" cy="537736"/>
          </a:xfrm>
        </p:spPr>
        <p:txBody>
          <a:bodyPr>
            <a:normAutofit/>
          </a:bodyPr>
          <a:lstStyle>
            <a:lvl1pPr algn="ctr">
              <a:defRPr sz="32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838200" y="2224586"/>
            <a:ext cx="10515600" cy="4039736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6652613-EA4D-75EC-00D8-FCC0834E3433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B54BB0C9-AF0A-C643-D9FE-55BD0A529487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348E37F6-2C1D-3D44-F0F6-656EEDCDDE70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3076E5-14DA-CB3A-9036-6ADD69D9002D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7CBF0F-E0CB-D62B-1EC5-156E47264ECE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50C93F3B-A609-E1D1-633C-5069CFD18E75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4" name="Picture 3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E331680C-484D-A458-73F3-4929605A31E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114" t="22266" r="5023" b="16493"/>
          <a:stretch/>
        </p:blipFill>
        <p:spPr bwMode="auto">
          <a:xfrm>
            <a:off x="4634789" y="130834"/>
            <a:ext cx="2922422" cy="1132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7708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5692" y="3029742"/>
            <a:ext cx="10515600" cy="795693"/>
          </a:xfrm>
        </p:spPr>
        <p:txBody>
          <a:bodyPr anchor="b">
            <a:normAutofit/>
          </a:bodyPr>
          <a:lstStyle>
            <a:lvl1pPr algn="ctr">
              <a:defRPr sz="4400" b="1" baseline="0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Add text to end slide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05E8D96-89F3-7337-1A8C-EB474E55C4D2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5C41DEC-3B41-BA28-E2A3-227CD9119E6F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1FE924E-B8F9-620B-625A-3DAF68A9A560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D8D2B22-4687-BBC4-ADB6-86216B26007A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1209DC7-DAB9-DD0A-09C6-B98B26AC873E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9E2EA79-C683-9E3C-1B72-BEC658A11173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7" name="Picture 6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FEF38883-F7C4-6E24-4587-39D2EFB6B5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114" t="22266" r="5023" b="16493"/>
          <a:stretch/>
        </p:blipFill>
        <p:spPr bwMode="auto">
          <a:xfrm>
            <a:off x="3376795" y="191371"/>
            <a:ext cx="5184546" cy="200873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52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1176532"/>
            <a:ext cx="5181600" cy="5000431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1176532"/>
            <a:ext cx="5181600" cy="5000431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91069"/>
            <a:ext cx="10156766" cy="79157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42F7995-CE9A-265B-B144-7CEAD638ECA8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56B6818-E555-CFE1-0D85-7B7133E4DC9F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538C391-ACB6-C275-9103-0C1E8389AF2C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9DAE2EB-6A95-DB8F-9F36-D8A4227602EE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B395564-A750-41C3-2D1C-5BE3B08FF1EC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2F29382C-4512-7E83-F645-1F5C9975D647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8" name="image1.png">
            <a:extLst>
              <a:ext uri="{FF2B5EF4-FFF2-40B4-BE49-F238E27FC236}">
                <a16:creationId xmlns:a16="http://schemas.microsoft.com/office/drawing/2014/main" id="{696028C9-D783-BA1A-E608-1DCB340B8734}"/>
              </a:ext>
            </a:extLst>
          </p:cNvPr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994966" y="141918"/>
            <a:ext cx="1141614" cy="11036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805723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838200" y="2238234"/>
            <a:ext cx="5181600" cy="3938730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172200" y="2238234"/>
            <a:ext cx="5181600" cy="3938729"/>
          </a:xfrm>
        </p:spPr>
        <p:txBody>
          <a:bodyPr/>
          <a:lstStyle>
            <a:lvl1pPr>
              <a:defRPr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392073"/>
            <a:ext cx="10515600" cy="641444"/>
          </a:xfrm>
        </p:spPr>
        <p:txBody>
          <a:bodyPr>
            <a:normAutofit/>
          </a:bodyPr>
          <a:lstStyle>
            <a:lvl1pPr algn="ctr"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F71C62-372F-5969-DABC-A60707704FFB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FFD3C84-8CD0-C261-CAE1-0FE6FD5638D0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51EAB02-FFFD-0E85-225D-32E1E6D20B68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ADBA6E0-8CC1-DE36-5EBC-B7EC4553B353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989BDFF-8AB6-2FD5-9508-FEBC36A8A73A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F1FD1CE-288C-FCE6-2F64-6C81D9ED7020}"/>
              </a:ext>
            </a:extLst>
          </p:cNvPr>
          <p:cNvSpPr/>
          <p:nvPr userDrawn="1"/>
        </p:nvSpPr>
        <p:spPr>
          <a:xfrm>
            <a:off x="0" y="0"/>
            <a:ext cx="12192000" cy="9501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pic>
        <p:nvPicPr>
          <p:cNvPr id="6" name="Picture 5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2F036222-C463-AD63-F66B-AB6213DF2FD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114" t="22266" r="5023" b="16493"/>
          <a:stretch/>
        </p:blipFill>
        <p:spPr bwMode="auto">
          <a:xfrm>
            <a:off x="4634789" y="130834"/>
            <a:ext cx="2922422" cy="113228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5556238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145685" cy="876821"/>
          </a:xfrm>
        </p:spPr>
        <p:txBody>
          <a:bodyPr>
            <a:normAutofit/>
          </a:bodyPr>
          <a:lstStyle>
            <a:lvl1pPr>
              <a:defRPr sz="3600" b="1">
                <a:solidFill>
                  <a:schemeClr val="accent1">
                    <a:lumMod val="50000"/>
                  </a:schemeClr>
                </a:solidFill>
                <a:latin typeface="Segoe UI Light" panose="020B0502040204020203" pitchFamily="34" charset="0"/>
                <a:cs typeface="Segoe UI Light" panose="020B0502040204020203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A8018BF-017D-FB6E-2B69-16D8C8339ECF}"/>
              </a:ext>
            </a:extLst>
          </p:cNvPr>
          <p:cNvGrpSpPr/>
          <p:nvPr userDrawn="1"/>
        </p:nvGrpSpPr>
        <p:grpSpPr>
          <a:xfrm>
            <a:off x="0" y="6459189"/>
            <a:ext cx="12204083" cy="415437"/>
            <a:chOff x="0" y="6459189"/>
            <a:chExt cx="12204083" cy="415437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69B834E-F512-745E-4546-A730A517C4CA}"/>
                </a:ext>
              </a:extLst>
            </p:cNvPr>
            <p:cNvSpPr/>
            <p:nvPr userDrawn="1"/>
          </p:nvSpPr>
          <p:spPr>
            <a:xfrm>
              <a:off x="2268" y="6486899"/>
              <a:ext cx="3830533" cy="37961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C1A8627-FEFD-0DF5-D44A-73AFC0154BDC}"/>
                </a:ext>
              </a:extLst>
            </p:cNvPr>
            <p:cNvSpPr/>
            <p:nvPr userDrawn="1"/>
          </p:nvSpPr>
          <p:spPr>
            <a:xfrm>
              <a:off x="3832798" y="6495011"/>
              <a:ext cx="8359202" cy="37961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25A54A7-E747-81A7-31F9-43BA8F13DB9D}"/>
                </a:ext>
              </a:extLst>
            </p:cNvPr>
            <p:cNvSpPr txBox="1"/>
            <p:nvPr userDrawn="1"/>
          </p:nvSpPr>
          <p:spPr>
            <a:xfrm>
              <a:off x="0" y="6475414"/>
              <a:ext cx="383053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>
                      <a:lumMod val="95000"/>
                    </a:schemeClr>
                  </a:solidFill>
                </a:rPr>
                <a:t>www.si.upitra.ac.id</a:t>
              </a:r>
              <a:endParaRPr lang="en-ID" dirty="0">
                <a:solidFill>
                  <a:schemeClr val="bg1">
                    <a:lumMod val="95000"/>
                  </a:schemeClr>
                </a:solidFill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E6B9C3B-67C7-F3A1-B644-8EC729BCE6FB}"/>
                </a:ext>
              </a:extLst>
            </p:cNvPr>
            <p:cNvSpPr txBox="1"/>
            <p:nvPr userDrawn="1"/>
          </p:nvSpPr>
          <p:spPr>
            <a:xfrm>
              <a:off x="3840480" y="6459189"/>
              <a:ext cx="836360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Excellence through Unity</a:t>
              </a:r>
              <a:r>
                <a:rPr lang="en-US" sz="2000" b="1" dirty="0">
                  <a:solidFill>
                    <a:schemeClr val="bg1">
                      <a:lumMod val="95000"/>
                    </a:schemeClr>
                  </a:solidFill>
                  <a:latin typeface="Informal Roman" panose="030604020304060B0204" pitchFamily="66" charset="0"/>
                  <a:cs typeface="Cascadia Mono SemiBold" panose="020B0609020000020004" pitchFamily="49" charset="0"/>
                </a:rPr>
                <a:t>, People, and Transformation</a:t>
              </a:r>
              <a:endParaRPr lang="en-ID" sz="2000" b="1" dirty="0">
                <a:solidFill>
                  <a:schemeClr val="bg1">
                    <a:lumMod val="95000"/>
                  </a:schemeClr>
                </a:solidFill>
                <a:latin typeface="Informal Roman" panose="030604020304060B0204" pitchFamily="66" charset="0"/>
                <a:cs typeface="Cascadia Mono SemiBold" panose="020B0609020000020004" pitchFamily="49" charset="0"/>
              </a:endParaRP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2E8FA11-4586-993E-F31C-FC42EB188F9B}"/>
              </a:ext>
            </a:extLst>
          </p:cNvPr>
          <p:cNvGrpSpPr/>
          <p:nvPr userDrawn="1"/>
        </p:nvGrpSpPr>
        <p:grpSpPr>
          <a:xfrm>
            <a:off x="0" y="-5542"/>
            <a:ext cx="12192000" cy="110837"/>
            <a:chOff x="121920" y="1995055"/>
            <a:chExt cx="12192000" cy="11083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EA2E0C-0463-E923-EC7A-3217DCBB07ED}"/>
                </a:ext>
              </a:extLst>
            </p:cNvPr>
            <p:cNvSpPr/>
            <p:nvPr userDrawn="1"/>
          </p:nvSpPr>
          <p:spPr>
            <a:xfrm>
              <a:off x="3962400" y="2000597"/>
              <a:ext cx="8351520" cy="10529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4153E46-B80F-FE5B-2319-390CBBE03DC5}"/>
                </a:ext>
              </a:extLst>
            </p:cNvPr>
            <p:cNvSpPr/>
            <p:nvPr userDrawn="1"/>
          </p:nvSpPr>
          <p:spPr>
            <a:xfrm>
              <a:off x="121920" y="1995055"/>
              <a:ext cx="3850427" cy="10529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/>
            </a:p>
          </p:txBody>
        </p:sp>
      </p:grpSp>
      <p:pic>
        <p:nvPicPr>
          <p:cNvPr id="10" name="image1.png">
            <a:extLst>
              <a:ext uri="{FF2B5EF4-FFF2-40B4-BE49-F238E27FC236}">
                <a16:creationId xmlns:a16="http://schemas.microsoft.com/office/drawing/2014/main" id="{FA1885D3-A695-43D5-D3F3-50CDC031D80A}"/>
              </a:ext>
            </a:extLst>
          </p:cNvPr>
          <p:cNvPicPr/>
          <p:nvPr userDrawn="1"/>
        </p:nvPicPr>
        <p:blipFill>
          <a:blip r:embed="rId2"/>
          <a:srcRect/>
          <a:stretch>
            <a:fillRect/>
          </a:stretch>
        </p:blipFill>
        <p:spPr>
          <a:xfrm>
            <a:off x="10983885" y="185190"/>
            <a:ext cx="1141614" cy="1103681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15833418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15500-6DB4-4340-9B2D-65F00F318DE4}" type="datetimeFigureOut">
              <a:rPr lang="en-US" smtClean="0"/>
              <a:t>5/9/25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2D1AED-FB21-4BC5-ADA4-092E4BB5506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0006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61" r:id="rId6"/>
    <p:sldLayoutId id="2147483654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Fzf-O81Z7RI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KEWIRAUSAHAAN</a:t>
            </a:r>
            <a:endParaRPr lang="en-US" sz="4000" i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PRESENTASI BISNIS</a:t>
            </a:r>
          </a:p>
          <a:p>
            <a:r>
              <a:rPr lang="en-US" sz="2000" dirty="0"/>
              <a:t>(PITCHING)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FC26B7-3010-01EA-3E8E-DB6BA431821D}"/>
              </a:ext>
            </a:extLst>
          </p:cNvPr>
          <p:cNvSpPr txBox="1">
            <a:spLocks/>
          </p:cNvSpPr>
          <p:nvPr/>
        </p:nvSpPr>
        <p:spPr>
          <a:xfrm>
            <a:off x="2466606" y="321513"/>
            <a:ext cx="9144000" cy="62876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 Light" panose="020B0502040204020203" pitchFamily="34" charset="0"/>
                <a:ea typeface="+mn-ea"/>
                <a:cs typeface="Segoe UI Light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 err="1"/>
              <a:t>Pertemuan</a:t>
            </a:r>
            <a:r>
              <a:rPr lang="en-US" sz="2000" b="1" dirty="0"/>
              <a:t> - 11</a:t>
            </a:r>
          </a:p>
        </p:txBody>
      </p:sp>
    </p:spTree>
    <p:extLst>
      <p:ext uri="{BB962C8B-B14F-4D97-AF65-F5344CB8AC3E}">
        <p14:creationId xmlns:p14="http://schemas.microsoft.com/office/powerpoint/2010/main" val="27260489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Sub-CPMK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Mahasiswa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mampu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menyusun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presentasi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bisnis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efektif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dan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menerapkan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teknik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pitching yang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baik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 </a:t>
            </a:r>
          </a:p>
          <a:p>
            <a:pPr marL="0" indent="0">
              <a:lnSpc>
                <a:spcPct val="150000"/>
              </a:lnSpc>
              <a:buNone/>
            </a:pPr>
            <a:endParaRPr lang="en-ID" sz="20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Setelah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mengikuti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perkuliahan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ini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,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mahasiswa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diharapkan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: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Mampu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membuat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presentasi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bisnis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(model pitch deck).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Mampu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memahami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teknik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pitching.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arabicPeriod"/>
            </a:pP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Mampu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menerapkan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teknik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pitching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secara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n-ID" sz="20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langsung</a:t>
            </a:r>
            <a:r>
              <a:rPr lang="en-ID" sz="20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.</a:t>
            </a:r>
            <a:br>
              <a:rPr lang="en-ID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3869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Apa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itu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Pitching?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 lnSpcReduction="1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Pitching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adalah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aktivitas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komunikasi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bisnis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dilakukan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oleh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seorang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wirausahawan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menyampaikan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ide,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produk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model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bisnisnya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secara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ringkas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persuasif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meyakinkan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kepada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pihak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lain (investor,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mitra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pelanggan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potensial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).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 algn="just">
              <a:lnSpc>
                <a:spcPct val="150000"/>
              </a:lnSpc>
              <a:buNone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Tujuan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:</a:t>
            </a:r>
          </a:p>
          <a:p>
            <a:pPr algn="just">
              <a:lnSpc>
                <a:spcPct val="150000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Mendapatkan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perhatian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minat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awal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Meyakinkan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calon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investor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mendanai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Menjalin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kerja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sama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kolaborasi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Mengkomunikasikan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keunikan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produk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477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Elemen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Penting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Pitching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Menurut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Guy Kawasaki (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pakar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startup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&amp;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eks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Apple), pitch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efektif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setidaknya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mencakup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Masalah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nyata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relevan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Solusi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produk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inovatif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Keunikan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atau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keunggulan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kompetitif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Model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bisnis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jelas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Ukuran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pasar dan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potensi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pertumbuhan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Tim yang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kompeten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Permintaan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konkret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(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misalnya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dana,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mitra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, </a:t>
            </a:r>
            <a:r>
              <a:rPr lang="en-ID" sz="2000" dirty="0" err="1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akses</a:t>
            </a: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)</a:t>
            </a: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85502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ID" b="1" i="0" u="none" strike="noStrike" dirty="0" err="1">
                <a:solidFill>
                  <a:srgbClr val="000000"/>
                </a:solidFill>
                <a:effectLst/>
              </a:rPr>
              <a:t>Jenis-Jenis</a:t>
            </a:r>
            <a:r>
              <a:rPr lang="en-ID" b="1" i="0" u="none" strike="noStrike" dirty="0">
                <a:solidFill>
                  <a:srgbClr val="000000"/>
                </a:solidFill>
                <a:effectLst/>
              </a:rPr>
              <a:t> Pitching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856163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D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|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  <a:p>
            <a:pPr marL="0" indent="0" algn="l">
              <a:buNone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Notes: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Pitch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harus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menarik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perhatian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membangkitkan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minat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menciptakan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keinginan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dan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mendorong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tindakan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investasi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pembelian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).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Gabungan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emosi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logika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dan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kredibilitas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sangat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penting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dalam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membangun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pitching yang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meyakinkan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D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A68C8A8-747C-0C0F-BBD7-0F072F479C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3540348"/>
              </p:ext>
            </p:extLst>
          </p:nvPr>
        </p:nvGraphicFramePr>
        <p:xfrm>
          <a:off x="927100" y="1429451"/>
          <a:ext cx="7439134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672">
                  <a:extLst>
                    <a:ext uri="{9D8B030D-6E8A-4147-A177-3AD203B41FA5}">
                      <a16:colId xmlns:a16="http://schemas.microsoft.com/office/drawing/2014/main" val="969193682"/>
                    </a:ext>
                  </a:extLst>
                </a:gridCol>
                <a:gridCol w="1576552">
                  <a:extLst>
                    <a:ext uri="{9D8B030D-6E8A-4147-A177-3AD203B41FA5}">
                      <a16:colId xmlns:a16="http://schemas.microsoft.com/office/drawing/2014/main" val="217489715"/>
                    </a:ext>
                  </a:extLst>
                </a:gridCol>
                <a:gridCol w="3972910">
                  <a:extLst>
                    <a:ext uri="{9D8B030D-6E8A-4147-A177-3AD203B41FA5}">
                      <a16:colId xmlns:a16="http://schemas.microsoft.com/office/drawing/2014/main" val="59616826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Jenis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Pitching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Durasi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Tujuan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Utama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3202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Elevator Pitch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30–60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detik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Menarik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perhatian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awal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45816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Investor Pitch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3–10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menit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Meyakinkan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untuk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mendanai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ide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278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Product Pitch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1–3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menit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Menjual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produk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/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jasa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ke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calon</a:t>
                      </a:r>
                      <a:r>
                        <a:rPr lang="en-ID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 </a:t>
                      </a:r>
                      <a:r>
                        <a:rPr lang="en-ID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Wingdings" pitchFamily="2" charset="2"/>
                        </a:rPr>
                        <a:t>pelanggan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0701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62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US" dirty="0" err="1"/>
              <a:t>Struktur</a:t>
            </a:r>
            <a:r>
              <a:rPr lang="en-US" dirty="0"/>
              <a:t> Pitch Deck yang </a:t>
            </a:r>
            <a:r>
              <a:rPr lang="en-US" dirty="0" err="1"/>
              <a:t>Efektif</a:t>
            </a: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0134"/>
            <a:ext cx="10515600" cy="4686830"/>
          </a:xfrm>
        </p:spPr>
        <p:txBody>
          <a:bodyPr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ID" sz="1400" i="0" u="none" strike="noStrike" dirty="0" err="1">
                <a:solidFill>
                  <a:srgbClr val="000000"/>
                </a:solidFill>
                <a:effectLst/>
              </a:rPr>
              <a:t>Komponen</a:t>
            </a:r>
            <a:r>
              <a:rPr lang="en-ID" sz="14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i="0" u="none" strike="noStrike" dirty="0" err="1">
                <a:solidFill>
                  <a:srgbClr val="000000"/>
                </a:solidFill>
                <a:effectLst/>
              </a:rPr>
              <a:t>Umum</a:t>
            </a:r>
            <a:r>
              <a:rPr lang="en-ID" sz="1400" i="0" u="none" strike="noStrike" dirty="0">
                <a:solidFill>
                  <a:srgbClr val="000000"/>
                </a:solidFill>
                <a:effectLst/>
              </a:rPr>
              <a:t> Pitch Deck </a:t>
            </a:r>
            <a:r>
              <a:rPr lang="en-ID" sz="1400" i="0" u="none" strike="noStrike" dirty="0" err="1">
                <a:solidFill>
                  <a:srgbClr val="000000"/>
                </a:solidFill>
                <a:effectLst/>
              </a:rPr>
              <a:t>adalah</a:t>
            </a:r>
            <a:r>
              <a:rPr lang="en-ID" sz="14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i="0" u="none" strike="noStrike" dirty="0" err="1">
                <a:solidFill>
                  <a:srgbClr val="000000"/>
                </a:solidFill>
                <a:effectLst/>
              </a:rPr>
              <a:t>sebagai</a:t>
            </a:r>
            <a:r>
              <a:rPr lang="en-ID" sz="140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i="0" u="none" strike="noStrike" dirty="0" err="1">
                <a:solidFill>
                  <a:srgbClr val="000000"/>
                </a:solidFill>
                <a:effectLst/>
              </a:rPr>
              <a:t>berikut</a:t>
            </a:r>
            <a:r>
              <a:rPr lang="en-ID" sz="1400" i="0" u="none" strike="noStrike" dirty="0">
                <a:solidFill>
                  <a:srgbClr val="000000"/>
                </a:solidFill>
                <a:effectLst/>
              </a:rPr>
              <a:t>: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Cover Slide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Nama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usaha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startup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logo, tagline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Problem Slide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Masalah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nyata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ingin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diselesaikan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Solution Slide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Solusi/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jasa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/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produk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yang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ditawarkan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Market Opportunity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Ukuran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pasar dan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segmennya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Business Model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Bagaimana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cara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menghasilkan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profit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Competitive Advantage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Keunggulan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kompetitif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Traction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Capaian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pengguna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pendapatan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,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dll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Marketing Strategy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Cara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menjangkau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pelanggan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Team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Tim inti dan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kompetensinya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Financial Projections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Proyeksi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keuangan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singkat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  <a:p>
            <a:pPr algn="l">
              <a:lnSpc>
                <a:spcPct val="150000"/>
              </a:lnSpc>
              <a:buFont typeface="+mj-lt"/>
              <a:buAutoNum type="arabicPeriod"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</a:rPr>
              <a:t>Ask Slide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 –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Kebutuhan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pendanaan</a:t>
            </a:r>
            <a:r>
              <a:rPr lang="en-ID" sz="1400" b="0" i="0" u="none" strike="noStrike" dirty="0">
                <a:solidFill>
                  <a:srgbClr val="000000"/>
                </a:solidFill>
                <a:effectLst/>
              </a:rPr>
              <a:t> dan </a:t>
            </a:r>
            <a:r>
              <a:rPr lang="en-ID" sz="1400" b="0" i="0" u="none" strike="noStrike" dirty="0" err="1">
                <a:solidFill>
                  <a:srgbClr val="000000"/>
                </a:solidFill>
                <a:effectLst/>
              </a:rPr>
              <a:t>penggunaannya</a:t>
            </a:r>
            <a:endParaRPr lang="en-ID" sz="1400" b="0" i="0" u="none" strike="noStrike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61608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US" dirty="0"/>
              <a:t>Teknik Pitching yang </a:t>
            </a:r>
            <a:r>
              <a:rPr lang="en-US" dirty="0" err="1"/>
              <a:t>Efektif</a:t>
            </a:r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0800"/>
            <a:ext cx="10515600" cy="43735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D" sz="1400" b="1" dirty="0"/>
              <a:t>Storytelling</a:t>
            </a:r>
          </a:p>
          <a:p>
            <a:pPr>
              <a:lnSpc>
                <a:spcPct val="150000"/>
              </a:lnSpc>
            </a:pPr>
            <a:r>
              <a:rPr lang="en-ID" sz="1400" b="1" dirty="0"/>
              <a:t>Body Language &amp; Eye Contact</a:t>
            </a:r>
            <a:endParaRPr lang="en-ID" sz="1400" dirty="0"/>
          </a:p>
          <a:p>
            <a:pPr>
              <a:lnSpc>
                <a:spcPct val="150000"/>
              </a:lnSpc>
            </a:pPr>
            <a:r>
              <a:rPr lang="en-ID" sz="1400" b="1" dirty="0"/>
              <a:t>Voice Control &amp; Intonation</a:t>
            </a:r>
            <a:endParaRPr lang="en-ID" sz="1400" dirty="0"/>
          </a:p>
          <a:p>
            <a:pPr>
              <a:lnSpc>
                <a:spcPct val="150000"/>
              </a:lnSpc>
            </a:pPr>
            <a:r>
              <a:rPr lang="en-ID" sz="1400" b="1" dirty="0"/>
              <a:t>Timing (3-5 </a:t>
            </a:r>
            <a:r>
              <a:rPr lang="en-ID" sz="1400" b="1" dirty="0" err="1"/>
              <a:t>menit</a:t>
            </a:r>
            <a:r>
              <a:rPr lang="en-ID" sz="1400" b="1" dirty="0"/>
              <a:t> optimal)</a:t>
            </a:r>
            <a:endParaRPr lang="en-ID" sz="1400" dirty="0"/>
          </a:p>
          <a:p>
            <a:pPr>
              <a:lnSpc>
                <a:spcPct val="150000"/>
              </a:lnSpc>
            </a:pPr>
            <a:r>
              <a:rPr lang="en-ID" sz="1400" b="1" dirty="0"/>
              <a:t>Visual Aids</a:t>
            </a:r>
          </a:p>
          <a:p>
            <a:pPr>
              <a:lnSpc>
                <a:spcPct val="150000"/>
              </a:lnSpc>
            </a:pPr>
            <a:r>
              <a:rPr lang="en-ID" sz="1400" b="1" dirty="0"/>
              <a:t>Q&amp;A Handling Tips</a:t>
            </a:r>
          </a:p>
          <a:p>
            <a:pPr marL="0" indent="0">
              <a:lnSpc>
                <a:spcPct val="150000"/>
              </a:lnSpc>
              <a:buNone/>
            </a:pPr>
            <a:endParaRPr lang="en-ID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ID" sz="1400" b="1" dirty="0" err="1"/>
              <a:t>Tugas</a:t>
            </a:r>
            <a:r>
              <a:rPr lang="en-ID" sz="1400" b="1" dirty="0"/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400" dirty="0" err="1"/>
              <a:t>Carilah</a:t>
            </a:r>
            <a:r>
              <a:rPr lang="en-ID" sz="1400" dirty="0"/>
              <a:t> tips </a:t>
            </a:r>
            <a:r>
              <a:rPr lang="en-ID" sz="1400" dirty="0" err="1"/>
              <a:t>untuk</a:t>
            </a:r>
            <a:r>
              <a:rPr lang="en-ID" sz="1400" dirty="0"/>
              <a:t> masing-masing </a:t>
            </a:r>
            <a:r>
              <a:rPr lang="en-ID" sz="1400" dirty="0" err="1"/>
              <a:t>teknik</a:t>
            </a:r>
            <a:r>
              <a:rPr lang="en-ID" sz="1400" dirty="0"/>
              <a:t> pitching?</a:t>
            </a:r>
          </a:p>
        </p:txBody>
      </p:sp>
    </p:spTree>
    <p:extLst>
      <p:ext uri="{BB962C8B-B14F-4D97-AF65-F5344CB8AC3E}">
        <p14:creationId xmlns:p14="http://schemas.microsoft.com/office/powerpoint/2010/main" val="1273689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r>
              <a:rPr lang="en-US" dirty="0" err="1"/>
              <a:t>Demonstrasi</a:t>
            </a:r>
            <a:r>
              <a:rPr lang="en-US" dirty="0"/>
              <a:t> Pitching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3400"/>
            <a:ext cx="10515600" cy="43735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D" sz="1400" b="1" i="0" u="none" strike="noStrike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Top 5 Pitch Competition INDONESIA STARTUP CHAMPS 2021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D" sz="1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https://www.youtube.com/watch?v=Fzf-O81Z7RI</a:t>
            </a:r>
            <a:endParaRPr lang="en-ID" sz="1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CE3C968-F2A1-0E46-3625-5D8848D88B56}"/>
              </a:ext>
            </a:extLst>
          </p:cNvPr>
          <p:cNvSpPr txBox="1"/>
          <p:nvPr/>
        </p:nvSpPr>
        <p:spPr>
          <a:xfrm>
            <a:off x="2674189" y="257067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39741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0469"/>
            <a:ext cx="10051473" cy="850331"/>
          </a:xfrm>
        </p:spPr>
        <p:txBody>
          <a:bodyPr/>
          <a:lstStyle/>
          <a:p>
            <a:pPr algn="ctr"/>
            <a:r>
              <a:rPr lang="en-US" dirty="0" err="1"/>
              <a:t>Tugas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EEC7C8C-72B8-9117-1E58-13885492B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5117"/>
            <a:ext cx="10515600" cy="5041846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ID" sz="1400" b="1" i="0" u="none" strike="noStrike" dirty="0">
                <a:solidFill>
                  <a:srgbClr val="000000"/>
                </a:solidFill>
                <a:effectLst/>
                <a:latin typeface="-webkit-standard"/>
              </a:rPr>
              <a:t>(Pitch Deck Challenge: Investor Pitch)</a:t>
            </a:r>
          </a:p>
          <a:p>
            <a:pPr marL="0" indent="0" algn="ctr">
              <a:lnSpc>
                <a:spcPct val="150000"/>
              </a:lnSpc>
              <a:buNone/>
            </a:pPr>
            <a:endParaRPr lang="en-ID" sz="1400" b="1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sz="1400" dirty="0"/>
              <a:t>Menyusun pitch deck </a:t>
            </a:r>
            <a:r>
              <a:rPr lang="en-ID" sz="1400" dirty="0" err="1"/>
              <a:t>singkat</a:t>
            </a:r>
            <a:r>
              <a:rPr lang="en-ID" sz="1400" dirty="0"/>
              <a:t> (</a:t>
            </a:r>
            <a:r>
              <a:rPr lang="en-ID" sz="1400" b="1" dirty="0" err="1"/>
              <a:t>maks</a:t>
            </a:r>
            <a:r>
              <a:rPr lang="en-ID" sz="1400" b="1" dirty="0"/>
              <a:t> 7 slide</a:t>
            </a:r>
            <a:r>
              <a:rPr lang="en-ID" sz="1400" dirty="0"/>
              <a:t>)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sebuah</a:t>
            </a:r>
            <a:r>
              <a:rPr lang="en-ID" sz="1400" dirty="0"/>
              <a:t> ide </a:t>
            </a:r>
            <a:r>
              <a:rPr lang="en-ID" sz="1400" dirty="0" err="1"/>
              <a:t>bisnis</a:t>
            </a:r>
            <a:r>
              <a:rPr lang="en-ID" sz="1400" dirty="0"/>
              <a:t>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sz="1400" dirty="0" err="1"/>
              <a:t>Menunjuk</a:t>
            </a:r>
            <a:r>
              <a:rPr lang="en-ID" sz="1400" dirty="0"/>
              <a:t> </a:t>
            </a:r>
            <a:r>
              <a:rPr lang="en-ID" sz="1400" dirty="0" err="1"/>
              <a:t>satu</a:t>
            </a:r>
            <a:r>
              <a:rPr lang="en-ID" sz="1400" dirty="0"/>
              <a:t> </a:t>
            </a:r>
            <a:r>
              <a:rPr lang="en-ID" sz="1400" dirty="0" err="1"/>
              <a:t>anggota</a:t>
            </a:r>
            <a:r>
              <a:rPr lang="en-ID" sz="1400" dirty="0"/>
              <a:t> </a:t>
            </a:r>
            <a:r>
              <a:rPr lang="en-ID" sz="1400" dirty="0" err="1"/>
              <a:t>untuk</a:t>
            </a:r>
            <a:r>
              <a:rPr lang="en-ID" sz="1400" dirty="0"/>
              <a:t> </a:t>
            </a:r>
            <a:r>
              <a:rPr lang="en-ID" sz="1400" dirty="0" err="1"/>
              <a:t>melakukan</a:t>
            </a:r>
            <a:r>
              <a:rPr lang="en-ID" sz="1400" dirty="0"/>
              <a:t> pitching </a:t>
            </a:r>
            <a:r>
              <a:rPr lang="en-ID" sz="1400" dirty="0" err="1"/>
              <a:t>selama</a:t>
            </a:r>
            <a:r>
              <a:rPr lang="en-ID" sz="1400" dirty="0"/>
              <a:t> </a:t>
            </a:r>
            <a:r>
              <a:rPr lang="en-ID" sz="1400" b="1" dirty="0"/>
              <a:t>3-10 </a:t>
            </a:r>
            <a:r>
              <a:rPr lang="en-ID" sz="1400" b="1" dirty="0" err="1"/>
              <a:t>menit</a:t>
            </a:r>
            <a:r>
              <a:rPr lang="en-ID" sz="1400" b="1" dirty="0"/>
              <a:t> </a:t>
            </a:r>
            <a:r>
              <a:rPr lang="en-ID" sz="1400" dirty="0" err="1"/>
              <a:t>melalui</a:t>
            </a:r>
            <a:r>
              <a:rPr lang="en-ID" sz="1400" dirty="0"/>
              <a:t> video.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D" sz="1400" dirty="0" err="1"/>
              <a:t>Penilaian</a:t>
            </a:r>
            <a:r>
              <a:rPr lang="en-ID" sz="14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Konten</a:t>
            </a:r>
            <a:endParaRPr lang="en-ID" sz="1400" b="0" i="0" u="none" strike="noStrike" dirty="0">
              <a:solidFill>
                <a:srgbClr val="000000"/>
              </a:solidFill>
              <a:effectLst/>
              <a:latin typeface="-webkit-standard"/>
            </a:endParaRPr>
          </a:p>
          <a:p>
            <a:pPr lvl="1">
              <a:lnSpc>
                <a:spcPct val="150000"/>
              </a:lnSpc>
            </a:pPr>
            <a:r>
              <a:rPr lang="en-ID" sz="1400" b="0" i="0" u="none" strike="noStrike" dirty="0" err="1">
                <a:solidFill>
                  <a:srgbClr val="000000"/>
                </a:solidFill>
                <a:effectLst/>
                <a:latin typeface="-webkit-standard"/>
              </a:rPr>
              <a:t>Presentasi</a:t>
            </a:r>
            <a:endParaRPr lang="en-ID" sz="1400" dirty="0">
              <a:solidFill>
                <a:srgbClr val="000000"/>
              </a:solidFill>
              <a:latin typeface="-webkit-standard"/>
            </a:endParaRPr>
          </a:p>
          <a:p>
            <a:pPr lvl="1">
              <a:lnSpc>
                <a:spcPct val="150000"/>
              </a:lnSpc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Visual</a:t>
            </a:r>
          </a:p>
          <a:p>
            <a:pPr lvl="1">
              <a:lnSpc>
                <a:spcPct val="150000"/>
              </a:lnSpc>
            </a:pPr>
            <a:r>
              <a:rPr lang="en-ID" sz="14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Waktu</a:t>
            </a:r>
            <a:endParaRPr lang="en-ID" sz="1400" dirty="0"/>
          </a:p>
          <a:p>
            <a:pPr lvl="1">
              <a:buFont typeface="+mj-lt"/>
              <a:buAutoNum type="arabicPeriod"/>
            </a:pPr>
            <a:endParaRPr lang="en-ID" sz="650" dirty="0"/>
          </a:p>
          <a:p>
            <a:pPr>
              <a:buFont typeface="+mj-lt"/>
              <a:buAutoNum type="arabicPeriod"/>
            </a:pPr>
            <a:endParaRPr lang="en-ID" sz="1050" dirty="0"/>
          </a:p>
          <a:p>
            <a:pPr>
              <a:buFont typeface="+mj-lt"/>
              <a:buAutoNum type="arabicPeriod"/>
            </a:pPr>
            <a:endParaRPr lang="en-ID" sz="1050" dirty="0"/>
          </a:p>
          <a:p>
            <a:pPr>
              <a:buFont typeface="+mj-lt"/>
              <a:buAutoNum type="arabicPeriod"/>
            </a:pPr>
            <a:endParaRPr lang="en-ID" sz="1050" dirty="0"/>
          </a:p>
          <a:p>
            <a:pPr marL="0" indent="0" algn="l">
              <a:lnSpc>
                <a:spcPct val="150000"/>
              </a:lnSpc>
              <a:buNone/>
            </a:pPr>
            <a:endParaRPr lang="en-ID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0925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EA96290-C8D2-E912-2F9F-D43CE22AA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578669"/>
            <a:ext cx="12192000" cy="850331"/>
          </a:xfrm>
        </p:spPr>
        <p:txBody>
          <a:bodyPr>
            <a:noAutofit/>
          </a:bodyPr>
          <a:lstStyle/>
          <a:p>
            <a:pPr algn="ctr"/>
            <a:r>
              <a:rPr lang="en-US" sz="8000" dirty="0">
                <a:latin typeface="Britannic Bold" panose="020B0903060703020204" pitchFamily="34" charset="77"/>
              </a:rPr>
              <a:t>TERIMA KASIH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C1FC5C5-61E2-E363-CF70-DBB094B29725}"/>
              </a:ext>
            </a:extLst>
          </p:cNvPr>
          <p:cNvSpPr txBox="1"/>
          <p:nvPr/>
        </p:nvSpPr>
        <p:spPr>
          <a:xfrm>
            <a:off x="1889760" y="2895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608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69FC18F-DE1D-4FA9-9A8E-2042E34987F2}" vid="{0C8266A3-84C3-4ADA-825E-2EF4B6E2360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2842</TotalTime>
  <Words>453</Words>
  <Application>Microsoft Macintosh PowerPoint</Application>
  <PresentationFormat>Widescreen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-webkit-standard</vt:lpstr>
      <vt:lpstr>AGRESSIVE</vt:lpstr>
      <vt:lpstr>Arial</vt:lpstr>
      <vt:lpstr>Britannic Bold</vt:lpstr>
      <vt:lpstr>Calibri</vt:lpstr>
      <vt:lpstr>Calibri Light</vt:lpstr>
      <vt:lpstr>Informal Roman</vt:lpstr>
      <vt:lpstr>Roboto</vt:lpstr>
      <vt:lpstr>Segoe UI Light</vt:lpstr>
      <vt:lpstr>Times New Roman</vt:lpstr>
      <vt:lpstr>Office Theme</vt:lpstr>
      <vt:lpstr>KEWIRAUSAHAAN</vt:lpstr>
      <vt:lpstr>Sub-CPMK</vt:lpstr>
      <vt:lpstr>Apa itu Pitching?</vt:lpstr>
      <vt:lpstr>Elemen Penting dalam Pitching</vt:lpstr>
      <vt:lpstr>Jenis-Jenis Pitching</vt:lpstr>
      <vt:lpstr>Struktur Pitch Deck yang Efektif </vt:lpstr>
      <vt:lpstr>Teknik Pitching yang Efektif </vt:lpstr>
      <vt:lpstr>Demonstrasi Pitching</vt:lpstr>
      <vt:lpstr>Tugas</vt:lpstr>
      <vt:lpstr>TERIMA KASIH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My Windows</dc:creator>
  <cp:lastModifiedBy>Maria Karmelia</cp:lastModifiedBy>
  <cp:revision>39</cp:revision>
  <dcterms:created xsi:type="dcterms:W3CDTF">2018-09-20T06:18:13Z</dcterms:created>
  <dcterms:modified xsi:type="dcterms:W3CDTF">2025-05-09T02:50:11Z</dcterms:modified>
</cp:coreProperties>
</file>